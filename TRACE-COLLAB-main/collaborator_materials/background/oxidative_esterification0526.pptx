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B48DA-D67B-4628-A4AA-97D27E805EE1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83940-2640-4E89-80F4-A94A45B6E8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594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83940-2640-4E89-80F4-A94A45B6E84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86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1433A-DF06-F447-3861-A17423D5F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A67EF7-D35C-638D-8352-74C867C05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3D6A6-5B10-925B-88EC-BE012A81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E0C91-FA53-92B1-C4D5-63E96541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08943F-CEDE-401B-58DD-ED0EBA5A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38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31D9E-2498-B707-E609-A288A3D7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672894-4154-3EAD-B925-9F51D4B4B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F52CFF-4ECB-B592-9ECE-27A92BF8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7867B-039E-A5C6-23FB-A1BEEC1D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39808-3F58-DEF7-567C-56AFB5A6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4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90A15-1834-3A80-9E95-7F196D6D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F528CF-FEEF-2094-5E23-09CB613F4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F56586-D9E2-4D66-C36A-17043694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32230-90B5-7C59-E320-2F76C929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A2C98-E55F-3BDE-FB0D-2EF81C99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93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81BD8-1EAD-5CA6-27B9-E72884E9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AD193-EA35-9D8C-929D-496D4E49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1D3734-89CB-B345-F3FC-3B9CC2DFE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3B6CE2-5332-3DCB-00BB-2E936C38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991FE0-1EDB-F630-F9A5-3A624DAF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79E280-1FED-10DF-680B-7B982A92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0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7DAF6-6741-A982-5E54-C01E82A6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E9A00-6D8C-D826-C863-BF32BF301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C2A1E5-3556-8373-5447-3E78E8B1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8A2D63-730F-391F-47DC-695035EFC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A0FD4A-40F1-B79C-FB5C-B6576CF2C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54518E-9A09-BF82-C355-0AC1412C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7A350F-CD78-2494-8511-F82AC6E6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6E3B69-F46C-00F7-7482-98BC340C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32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B5913-8451-C7BB-B9D5-B151743F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3C1715-5E20-ECC2-823E-EDBDF4FA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4DCB7C-D7B8-1E19-EE75-CDBB2963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A9196C-8711-E002-A939-11CE8024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4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D617A1-79E2-AFBA-2E73-7DBA6E6F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A72639-7E74-DA8E-2FA8-F302015D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07D82-C3D3-B17E-09C9-463340A2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3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960B9-83BA-473F-50B6-B626128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2481B3-FD23-D4E4-EA96-C080F510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BB70C4-49CA-2015-E195-DB726642C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80FC6B-E94B-CF95-56F8-AB04CFA51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0137A3-464D-7790-D1EC-E9010E0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AB582D-4E06-D8F2-CE70-A8B47F35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97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8163E-936F-B432-F764-E599388D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6DC549-05B8-F837-8CC5-AED4CE7D2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DF83ED-7BB5-BF45-97AF-90A464F25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FDA32C-4BFA-8BCA-BBB1-91ED421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B977F1-1CE7-85E6-9E15-814FE1D4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9D0795-07E4-15BD-42DC-D81D5CF1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5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67CA7-012E-4F9F-206C-A9A9C737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4076-67DB-5A34-9B29-D231FAC48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61C77-9842-CE14-BB05-C7E9E04F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61974F-038B-D0F2-A50D-E017E1AE9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16449-3CF6-B55A-B8B2-7226F529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79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208858-9EA5-CA1F-74BD-99AF51CCF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30007B-8123-3B77-4D92-DD174EBF0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317D6E-39D0-11FF-D0D6-EBDB6CAD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1B9E7-8A3F-8F5F-87D9-EB8CA72B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E389D-9E80-4EBA-FE72-86B2C1EF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09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E21C49-1582-9D95-DE7B-8EF4DDA6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0865A1-2D89-F1F6-F7CE-1E4A9F2D3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1238A-2242-5679-A7E1-CEFB93B07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A479E-BA80-445E-BCAF-049B60FF107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D6E95-1B68-FBD5-771F-7A8AF1206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3EA11-8350-BD44-CABC-2EB2EA8A3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80592-6D68-4F7D-8F1B-4081041F89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3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D36508-67EA-0BB6-EE49-C908EDFC5B50}"/>
              </a:ext>
            </a:extLst>
          </p:cNvPr>
          <p:cNvSpPr txBox="1"/>
          <p:nvPr/>
        </p:nvSpPr>
        <p:spPr>
          <a:xfrm>
            <a:off x="171833" y="111196"/>
            <a:ext cx="7922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Non-noble metal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catatlyzed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aerobic oxidative esterification of alcohols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8D4860-31CE-1FA0-6A97-4D6268CA2665}"/>
              </a:ext>
            </a:extLst>
          </p:cNvPr>
          <p:cNvSpPr txBox="1"/>
          <p:nvPr/>
        </p:nvSpPr>
        <p:spPr>
          <a:xfrm>
            <a:off x="331393" y="1651359"/>
            <a:ext cx="9039334" cy="2951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Challenges: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Limitation of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group---- R   =  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or other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groups with activated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α-H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R’=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Alkyl without α-H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(excess, &gt;10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equiv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 startAt="2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Need complex ligands or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nitroxyls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e.g. (2015, Stahl)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Yamaguchi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245A22-0E24-0626-764F-5ACEF414A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664" y="3380667"/>
            <a:ext cx="5064263" cy="12225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A9E7F6D-77C8-BE9F-AE40-9F659C8B7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324" y="4653720"/>
            <a:ext cx="5168603" cy="744118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9B42D5C-045C-556A-87E4-5F471D4BA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262650"/>
              </p:ext>
            </p:extLst>
          </p:nvPr>
        </p:nvGraphicFramePr>
        <p:xfrm>
          <a:off x="2860675" y="719138"/>
          <a:ext cx="5319713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3082515" imgH="429555" progId="ChemDraw.Document.6.0">
                  <p:embed/>
                </p:oleObj>
              </mc:Choice>
              <mc:Fallback>
                <p:oleObj name="CS ChemDraw Drawing" r:id="rId5" imgW="3082515" imgH="42955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0675" y="719138"/>
                        <a:ext cx="5319713" cy="741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476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8198A8A-35AF-0B53-F1A4-F9CB89722C46}"/>
              </a:ext>
            </a:extLst>
          </p:cNvPr>
          <p:cNvSpPr/>
          <p:nvPr/>
        </p:nvSpPr>
        <p:spPr>
          <a:xfrm>
            <a:off x="3597146" y="4909591"/>
            <a:ext cx="2853665" cy="713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E6B5B09-D343-F1AE-0180-BD337AF547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5416"/>
              </p:ext>
            </p:extLst>
          </p:nvPr>
        </p:nvGraphicFramePr>
        <p:xfrm>
          <a:off x="3116524" y="801683"/>
          <a:ext cx="58261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382523" imgH="805712" progId="ChemDraw.Document.6.0">
                  <p:embed/>
                </p:oleObj>
              </mc:Choice>
              <mc:Fallback>
                <p:oleObj name="CS ChemDraw Drawing" r:id="rId2" imgW="4382523" imgH="805712" progId="ChemDraw.Document.6.0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E6B5B09-D343-F1AE-0180-BD337AF547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16524" y="801683"/>
                        <a:ext cx="58261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5E0FB9B-4406-A1F4-21D1-49156FEBE84F}"/>
              </a:ext>
            </a:extLst>
          </p:cNvPr>
          <p:cNvSpPr txBox="1"/>
          <p:nvPr/>
        </p:nvSpPr>
        <p:spPr>
          <a:xfrm>
            <a:off x="497089" y="1415693"/>
            <a:ext cx="2140779" cy="336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Equiv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of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R’OH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TEMPO derivative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M(NO3)3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Additive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Component ratio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Solvent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Solvent volume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Temperature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AFB4CFA-3290-51AE-1FD8-E8688E710D92}"/>
              </a:ext>
            </a:extLst>
          </p:cNvPr>
          <p:cNvCxnSpPr>
            <a:cxnSpLocks/>
          </p:cNvCxnSpPr>
          <p:nvPr/>
        </p:nvCxnSpPr>
        <p:spPr>
          <a:xfrm flipV="1">
            <a:off x="2593859" y="3099391"/>
            <a:ext cx="10453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FFE8215-0544-943C-BC5A-E77C9694ABBD}"/>
              </a:ext>
            </a:extLst>
          </p:cNvPr>
          <p:cNvSpPr txBox="1"/>
          <p:nvPr/>
        </p:nvSpPr>
        <p:spPr>
          <a:xfrm>
            <a:off x="4012517" y="2246689"/>
            <a:ext cx="2140779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TEMPO derivative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M(NO3)3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Additive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Solvent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4A8E7A-9120-93ED-C967-4D0DBCDC1A89}"/>
              </a:ext>
            </a:extLst>
          </p:cNvPr>
          <p:cNvSpPr txBox="1"/>
          <p:nvPr/>
        </p:nvSpPr>
        <p:spPr>
          <a:xfrm>
            <a:off x="7258944" y="2246689"/>
            <a:ext cx="2081019" cy="21209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(change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R’OH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Equiv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of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R’OH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Component ratio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Solvent volume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Temperature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22272D-37C5-9566-D47C-EE6C7DAD8184}"/>
              </a:ext>
            </a:extLst>
          </p:cNvPr>
          <p:cNvSpPr txBox="1"/>
          <p:nvPr/>
        </p:nvSpPr>
        <p:spPr>
          <a:xfrm>
            <a:off x="3731798" y="5089278"/>
            <a:ext cx="258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Optimizition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stage A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2DBB4C0-18F8-F8E2-1EF8-2AA445CF9D40}"/>
              </a:ext>
            </a:extLst>
          </p:cNvPr>
          <p:cNvCxnSpPr/>
          <p:nvPr/>
        </p:nvCxnSpPr>
        <p:spPr>
          <a:xfrm flipV="1">
            <a:off x="5828012" y="3099391"/>
            <a:ext cx="10453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2EEB298-BBF9-CB13-11C0-0BD84C0958A4}"/>
              </a:ext>
            </a:extLst>
          </p:cNvPr>
          <p:cNvCxnSpPr/>
          <p:nvPr/>
        </p:nvCxnSpPr>
        <p:spPr>
          <a:xfrm flipV="1">
            <a:off x="9559255" y="3099391"/>
            <a:ext cx="10453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E20A1C9-63F8-D4A9-B0C9-AD67D697BA16}"/>
              </a:ext>
            </a:extLst>
          </p:cNvPr>
          <p:cNvSpPr/>
          <p:nvPr/>
        </p:nvSpPr>
        <p:spPr>
          <a:xfrm>
            <a:off x="7073471" y="4909591"/>
            <a:ext cx="2853665" cy="713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097138-464E-F1C4-CFBF-AFDC018E43E8}"/>
              </a:ext>
            </a:extLst>
          </p:cNvPr>
          <p:cNvSpPr txBox="1"/>
          <p:nvPr/>
        </p:nvSpPr>
        <p:spPr>
          <a:xfrm>
            <a:off x="7208123" y="5089278"/>
            <a:ext cx="258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Optimizition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stage B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9FD51C8-C2E2-B06F-1556-6E3ACC1FBFAA}"/>
              </a:ext>
            </a:extLst>
          </p:cNvPr>
          <p:cNvSpPr txBox="1"/>
          <p:nvPr/>
        </p:nvSpPr>
        <p:spPr>
          <a:xfrm>
            <a:off x="10673598" y="2914724"/>
            <a:ext cx="1461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result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0529EA2-C4D6-DF93-6A31-49CE7AA03156}"/>
              </a:ext>
            </a:extLst>
          </p:cNvPr>
          <p:cNvSpPr txBox="1"/>
          <p:nvPr/>
        </p:nvSpPr>
        <p:spPr>
          <a:xfrm>
            <a:off x="171833" y="111196"/>
            <a:ext cx="9208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Non-noble metal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catatlyzed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aerobic oxidative esterification of alcohols—Our plan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BD08F2-8E2F-8F47-A0F2-A97A53435CFE}"/>
              </a:ext>
            </a:extLst>
          </p:cNvPr>
          <p:cNvSpPr/>
          <p:nvPr/>
        </p:nvSpPr>
        <p:spPr>
          <a:xfrm>
            <a:off x="114546" y="4911331"/>
            <a:ext cx="2853665" cy="7136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reaction variables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D4AB86-E1F5-7E12-B83B-06A6F4AAA393}"/>
              </a:ext>
            </a:extLst>
          </p:cNvPr>
          <p:cNvSpPr txBox="1"/>
          <p:nvPr/>
        </p:nvSpPr>
        <p:spPr>
          <a:xfrm>
            <a:off x="3272154" y="5686985"/>
            <a:ext cx="362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 cyclohexanol as model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R’OH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42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2A1FC87-8365-E676-0AE3-E03212D02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643475"/>
              </p:ext>
            </p:extLst>
          </p:nvPr>
        </p:nvGraphicFramePr>
        <p:xfrm>
          <a:off x="411171" y="311201"/>
          <a:ext cx="5879163" cy="121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688796" imgH="965909" progId="ChemDraw.Document.6.0">
                  <p:embed/>
                </p:oleObj>
              </mc:Choice>
              <mc:Fallback>
                <p:oleObj name="CS ChemDraw Drawing" r:id="rId2" imgW="4688796" imgH="965909" progId="ChemDraw.Document.6.0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2A1FC87-8365-E676-0AE3-E03212D026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171" y="311201"/>
                        <a:ext cx="5879163" cy="1210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316B102-89A2-FEAB-69BB-1CF9A7EE5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69125"/>
              </p:ext>
            </p:extLst>
          </p:nvPr>
        </p:nvGraphicFramePr>
        <p:xfrm>
          <a:off x="110464" y="1732256"/>
          <a:ext cx="11856515" cy="4704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250">
                  <a:extLst>
                    <a:ext uri="{9D8B030D-6E8A-4147-A177-3AD203B41FA5}">
                      <a16:colId xmlns:a16="http://schemas.microsoft.com/office/drawing/2014/main" val="2444241017"/>
                    </a:ext>
                  </a:extLst>
                </a:gridCol>
                <a:gridCol w="890485">
                  <a:extLst>
                    <a:ext uri="{9D8B030D-6E8A-4147-A177-3AD203B41FA5}">
                      <a16:colId xmlns:a16="http://schemas.microsoft.com/office/drawing/2014/main" val="362434015"/>
                    </a:ext>
                  </a:extLst>
                </a:gridCol>
                <a:gridCol w="1234015">
                  <a:extLst>
                    <a:ext uri="{9D8B030D-6E8A-4147-A177-3AD203B41FA5}">
                      <a16:colId xmlns:a16="http://schemas.microsoft.com/office/drawing/2014/main" val="4079913175"/>
                    </a:ext>
                  </a:extLst>
                </a:gridCol>
                <a:gridCol w="1234015">
                  <a:extLst>
                    <a:ext uri="{9D8B030D-6E8A-4147-A177-3AD203B41FA5}">
                      <a16:colId xmlns:a16="http://schemas.microsoft.com/office/drawing/2014/main" val="4018598281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1649353967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517295581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150070760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1402180415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2863639543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640511847"/>
                    </a:ext>
                  </a:extLst>
                </a:gridCol>
                <a:gridCol w="1062250">
                  <a:extLst>
                    <a:ext uri="{9D8B030D-6E8A-4147-A177-3AD203B41FA5}">
                      <a16:colId xmlns:a16="http://schemas.microsoft.com/office/drawing/2014/main" val="49083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substrate1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substrate2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substrate2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equiv.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metal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nitroxide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additive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ratio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solvent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V(solvent)/mL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temperature/°C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yield/%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73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DCE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0972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DCE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8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DCE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33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DCE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  <a:endParaRPr lang="zh-CN" altLang="en-US" sz="1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49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DCE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34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975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4-NHAc-TEMPO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DCE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18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4-OMe-TEMPO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DCE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42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4-OH-TEMPO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DCE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126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CCCCCCCCCCCCCCCCO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Fe(NO3)3·9H2O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ABNO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BiCl3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6/5/10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DCE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903527"/>
                  </a:ext>
                </a:extLst>
              </a:tr>
              <a:tr h="370840">
                <a:tc gridSpan="11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415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47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273</Words>
  <Application>Microsoft Office PowerPoint</Application>
  <PresentationFormat>宽屏</PresentationFormat>
  <Paragraphs>155</Paragraphs>
  <Slides>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CS ChemDraw Drawing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jiangzhen fu</dc:creator>
  <cp:lastModifiedBy>jiangzhen fu</cp:lastModifiedBy>
  <cp:revision>10</cp:revision>
  <dcterms:created xsi:type="dcterms:W3CDTF">2025-12-05T03:25:07Z</dcterms:created>
  <dcterms:modified xsi:type="dcterms:W3CDTF">2026-05-26T01:54:19Z</dcterms:modified>
</cp:coreProperties>
</file>